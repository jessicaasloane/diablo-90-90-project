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9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03AA4-4255-814A-BDC9-6279A2CDBB2C}" v="4" dt="2025-06-18T18:48:58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9"/>
  </p:normalViewPr>
  <p:slideViewPr>
    <p:cSldViewPr snapToGrid="0">
      <p:cViewPr varScale="1">
        <p:scale>
          <a:sx n="104" d="100"/>
          <a:sy n="104" d="100"/>
        </p:scale>
        <p:origin x="1440" y="208"/>
      </p:cViewPr>
      <p:guideLst/>
    </p:cSldViewPr>
  </p:slideViewPr>
  <p:notesTextViewPr>
    <p:cViewPr>
      <p:scale>
        <a:sx n="1" d="1"/>
        <a:sy n="1" d="1"/>
      </p:scale>
      <p:origin x="0" y="-24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oane, Jessica (NIH/NIMH) [F]" userId="d50a48c5-c173-4b28-b2c9-78fe06aca959" providerId="ADAL" clId="{21203AA4-4255-814A-BDC9-6279A2CDBB2C}"/>
    <pc:docChg chg="custSel addSld modSld">
      <pc:chgData name="Sloane, Jessica (NIH/NIMH) [F]" userId="d50a48c5-c173-4b28-b2c9-78fe06aca959" providerId="ADAL" clId="{21203AA4-4255-814A-BDC9-6279A2CDBB2C}" dt="2025-06-18T18:56:24.964" v="2395" actId="20577"/>
      <pc:docMkLst>
        <pc:docMk/>
      </pc:docMkLst>
      <pc:sldChg chg="modSp new mod modNotesTx">
        <pc:chgData name="Sloane, Jessica (NIH/NIMH) [F]" userId="d50a48c5-c173-4b28-b2c9-78fe06aca959" providerId="ADAL" clId="{21203AA4-4255-814A-BDC9-6279A2CDBB2C}" dt="2025-06-18T18:39:28.642" v="611" actId="20577"/>
        <pc:sldMkLst>
          <pc:docMk/>
          <pc:sldMk cId="2961633012" sldId="259"/>
        </pc:sldMkLst>
        <pc:spChg chg="mod">
          <ac:chgData name="Sloane, Jessica (NIH/NIMH) [F]" userId="d50a48c5-c173-4b28-b2c9-78fe06aca959" providerId="ADAL" clId="{21203AA4-4255-814A-BDC9-6279A2CDBB2C}" dt="2025-06-18T18:38:05.073" v="305" actId="20577"/>
          <ac:spMkLst>
            <pc:docMk/>
            <pc:sldMk cId="2961633012" sldId="259"/>
            <ac:spMk id="2" creationId="{91A7AC10-92E0-D27C-4009-8B222AB15502}"/>
          </ac:spMkLst>
        </pc:spChg>
        <pc:spChg chg="mod">
          <ac:chgData name="Sloane, Jessica (NIH/NIMH) [F]" userId="d50a48c5-c173-4b28-b2c9-78fe06aca959" providerId="ADAL" clId="{21203AA4-4255-814A-BDC9-6279A2CDBB2C}" dt="2025-06-18T18:39:28.642" v="611" actId="20577"/>
          <ac:spMkLst>
            <pc:docMk/>
            <pc:sldMk cId="2961633012" sldId="259"/>
            <ac:spMk id="3" creationId="{09C10994-38DB-44C8-591D-21248719E8D3}"/>
          </ac:spMkLst>
        </pc:spChg>
      </pc:sldChg>
      <pc:sldChg chg="modSp new mod">
        <pc:chgData name="Sloane, Jessica (NIH/NIMH) [F]" userId="d50a48c5-c173-4b28-b2c9-78fe06aca959" providerId="ADAL" clId="{21203AA4-4255-814A-BDC9-6279A2CDBB2C}" dt="2025-06-18T18:38:28.143" v="392" actId="20577"/>
        <pc:sldMkLst>
          <pc:docMk/>
          <pc:sldMk cId="363024683" sldId="260"/>
        </pc:sldMkLst>
        <pc:spChg chg="mod">
          <ac:chgData name="Sloane, Jessica (NIH/NIMH) [F]" userId="d50a48c5-c173-4b28-b2c9-78fe06aca959" providerId="ADAL" clId="{21203AA4-4255-814A-BDC9-6279A2CDBB2C}" dt="2025-06-18T18:38:12.072" v="328" actId="20577"/>
          <ac:spMkLst>
            <pc:docMk/>
            <pc:sldMk cId="363024683" sldId="260"/>
            <ac:spMk id="2" creationId="{9659D8C6-FB9A-E689-45C3-899531B53AE7}"/>
          </ac:spMkLst>
        </pc:spChg>
        <pc:spChg chg="mod">
          <ac:chgData name="Sloane, Jessica (NIH/NIMH) [F]" userId="d50a48c5-c173-4b28-b2c9-78fe06aca959" providerId="ADAL" clId="{21203AA4-4255-814A-BDC9-6279A2CDBB2C}" dt="2025-06-18T18:38:28.143" v="392" actId="20577"/>
          <ac:spMkLst>
            <pc:docMk/>
            <pc:sldMk cId="363024683" sldId="260"/>
            <ac:spMk id="3" creationId="{191DE120-4E07-6309-171C-98A5F3D138E4}"/>
          </ac:spMkLst>
        </pc:spChg>
      </pc:sldChg>
      <pc:sldChg chg="modSp new mod modNotesTx">
        <pc:chgData name="Sloane, Jessica (NIH/NIMH) [F]" userId="d50a48c5-c173-4b28-b2c9-78fe06aca959" providerId="ADAL" clId="{21203AA4-4255-814A-BDC9-6279A2CDBB2C}" dt="2025-06-18T18:56:24.964" v="2395" actId="20577"/>
        <pc:sldMkLst>
          <pc:docMk/>
          <pc:sldMk cId="1940268019" sldId="261"/>
        </pc:sldMkLst>
        <pc:spChg chg="mod">
          <ac:chgData name="Sloane, Jessica (NIH/NIMH) [F]" userId="d50a48c5-c173-4b28-b2c9-78fe06aca959" providerId="ADAL" clId="{21203AA4-4255-814A-BDC9-6279A2CDBB2C}" dt="2025-06-18T18:40:43.491" v="628" actId="20577"/>
          <ac:spMkLst>
            <pc:docMk/>
            <pc:sldMk cId="1940268019" sldId="261"/>
            <ac:spMk id="2" creationId="{8A5A58D6-7EC8-ADB0-A419-04BA6C1B0CFB}"/>
          </ac:spMkLst>
        </pc:spChg>
        <pc:spChg chg="mod">
          <ac:chgData name="Sloane, Jessica (NIH/NIMH) [F]" userId="d50a48c5-c173-4b28-b2c9-78fe06aca959" providerId="ADAL" clId="{21203AA4-4255-814A-BDC9-6279A2CDBB2C}" dt="2025-06-18T18:49:30.739" v="2076" actId="20577"/>
          <ac:spMkLst>
            <pc:docMk/>
            <pc:sldMk cId="1940268019" sldId="261"/>
            <ac:spMk id="3" creationId="{278BDDA5-76E8-4B09-212F-2BEA9943D7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9C0C6-33F7-E14B-B7AE-756005109D08}" type="datetimeFigureOut">
              <a:rPr lang="en-US" smtClean="0"/>
              <a:t>6/18/25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E85F0-CCBD-CA4A-828C-5077396A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5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Multi-omics: multiple types of data collected from the same subjects (e.g. MEG, biomarkers)</a:t>
            </a:r>
          </a:p>
          <a:p>
            <a:r>
              <a:rPr lang="en-US" dirty="0"/>
              <a:t>PCA: unsupervised method, meaning it’s based on unlabeled data, used to simplify the data and summarize patterns; captures main trends in data; finds where data varies the most </a:t>
            </a:r>
          </a:p>
          <a:p>
            <a:r>
              <a:rPr lang="en-US" dirty="0"/>
              <a:t>Latent component: aka latent variable; combination of original variables (features) from a dataset, used to summarize the high-dimensional data while maximizing correlation between features; similar to PC but it’s optimized for correlation and classification </a:t>
            </a:r>
          </a:p>
          <a:p>
            <a:r>
              <a:rPr lang="en-US" dirty="0"/>
              <a:t>Covariance/correlation: Diablo tries to maximize the covariance (tells you how two variables change together; either positive, negative, or zero) between the components from different datasets</a:t>
            </a:r>
          </a:p>
          <a:p>
            <a:r>
              <a:rPr lang="en-US" dirty="0"/>
              <a:t>Supervised learning method: means we already know the labels of the data, and we know this outcome because our participants are either labeled as HV or TRD</a:t>
            </a:r>
          </a:p>
          <a:p>
            <a:r>
              <a:rPr lang="en-US" dirty="0"/>
              <a:t>PLS-DA: Diablo is a form of this type of analysis, helping find components that separate outcome groups</a:t>
            </a:r>
          </a:p>
          <a:p>
            <a:r>
              <a:rPr lang="en-US" dirty="0"/>
              <a:t>Design matrix: tells you how strongly you want the blocks to be correlated with one another (1 for strong and or 0 for no correlation)</a:t>
            </a:r>
          </a:p>
          <a:p>
            <a:r>
              <a:rPr lang="en-US" dirty="0"/>
              <a:t>Block: a dataset or ”view” of the same subjects, e.g. a neural network in meg </a:t>
            </a:r>
          </a:p>
          <a:p>
            <a:r>
              <a:rPr lang="en-US" dirty="0"/>
              <a:t>tuning: process of finding best number of components and </a:t>
            </a:r>
            <a:r>
              <a:rPr lang="en-US"/>
              <a:t>selected variables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E85F0-CCBD-CA4A-828C-5077396A9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55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Combinations of biomarkers are assumed to be better at predicting what we want compared to univariate biomarkers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E85F0-CCBD-CA4A-828C-5077396A9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8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E85F0-CCBD-CA4A-828C-5077396A9C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8727-A3E7-EAE0-E0B2-48FE5D36E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054335" cy="2387600"/>
          </a:xfrm>
        </p:spPr>
        <p:txBody>
          <a:bodyPr/>
          <a:lstStyle/>
          <a:p>
            <a:r>
              <a:rPr lang="en-US" dirty="0"/>
              <a:t>Diablo: Our favorite function in the </a:t>
            </a:r>
            <a:r>
              <a:rPr lang="en-US" dirty="0" err="1"/>
              <a:t>mixomics</a:t>
            </a:r>
            <a:r>
              <a:rPr lang="en-US" dirty="0"/>
              <a:t> R package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C418B-7D85-97DD-E08D-1A595D9DE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Jessica Sloane</a:t>
            </a:r>
          </a:p>
        </p:txBody>
      </p:sp>
    </p:spTree>
    <p:extLst>
      <p:ext uri="{BB962C8B-B14F-4D97-AF65-F5344CB8AC3E}">
        <p14:creationId xmlns:p14="http://schemas.microsoft.com/office/powerpoint/2010/main" val="167926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58D6-7EC8-ADB0-A419-04BA6C1B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DDA5-76E8-4B09-212F-2BEA9943D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36664"/>
          </a:xfrm>
        </p:spPr>
        <p:txBody>
          <a:bodyPr>
            <a:normAutofit/>
          </a:bodyPr>
          <a:lstStyle/>
          <a:p>
            <a:r>
              <a:rPr lang="en-US" dirty="0"/>
              <a:t>Multi-omics</a:t>
            </a:r>
          </a:p>
          <a:p>
            <a:r>
              <a:rPr lang="en-US" dirty="0"/>
              <a:t>Principal component analysis (PCA)</a:t>
            </a:r>
          </a:p>
          <a:p>
            <a:r>
              <a:rPr lang="en-US" dirty="0"/>
              <a:t>Latent components</a:t>
            </a:r>
          </a:p>
          <a:p>
            <a:r>
              <a:rPr lang="en-US" dirty="0"/>
              <a:t>Covariance/correlation between components</a:t>
            </a:r>
          </a:p>
          <a:p>
            <a:r>
              <a:rPr lang="en-US" dirty="0"/>
              <a:t>Supervised learning method</a:t>
            </a:r>
          </a:p>
          <a:p>
            <a:r>
              <a:rPr lang="en-US" dirty="0"/>
              <a:t>Discriminant Analysis -- Partial least squares (PLS-DA)</a:t>
            </a:r>
          </a:p>
          <a:p>
            <a:r>
              <a:rPr lang="en-US" dirty="0"/>
              <a:t>Design matrix</a:t>
            </a:r>
          </a:p>
        </p:txBody>
      </p:sp>
    </p:spTree>
    <p:extLst>
      <p:ext uri="{BB962C8B-B14F-4D97-AF65-F5344CB8AC3E}">
        <p14:creationId xmlns:p14="http://schemas.microsoft.com/office/powerpoint/2010/main" val="194026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AC10-92E0-D27C-4009-8B222AB1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diablo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0994-38DB-44C8-591D-21248719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dirty="0"/>
              <a:t>ata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dirty="0"/>
              <a:t>ntegration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dirty="0"/>
              <a:t>nalysis for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en-US" dirty="0"/>
              <a:t>iomarker discovery using </a:t>
            </a:r>
            <a:r>
              <a:rPr lang="en-US" dirty="0">
                <a:solidFill>
                  <a:schemeClr val="bg1"/>
                </a:solidFill>
              </a:rPr>
              <a:t>L</a:t>
            </a:r>
            <a:r>
              <a:rPr lang="en-US" dirty="0"/>
              <a:t>atent </a:t>
            </a:r>
            <a:r>
              <a:rPr lang="en-US" dirty="0" err="1"/>
              <a:t>c</a:t>
            </a:r>
            <a:r>
              <a:rPr lang="en-US" dirty="0" err="1">
                <a:solidFill>
                  <a:schemeClr val="bg1"/>
                </a:solidFill>
              </a:rPr>
              <a:t>O</a:t>
            </a:r>
            <a:r>
              <a:rPr lang="en-US" dirty="0" err="1"/>
              <a:t>mponents</a:t>
            </a:r>
            <a:endParaRPr lang="en-US" dirty="0"/>
          </a:p>
          <a:p>
            <a:r>
              <a:rPr lang="en-US" dirty="0"/>
              <a:t>Helps scientists discover small sets of important biological markers across many different types of data to tell groups of samples apart</a:t>
            </a:r>
          </a:p>
          <a:p>
            <a:r>
              <a:rPr lang="en-US" dirty="0"/>
              <a:t>Multivariate biomarkers &gt; univariate biomarkers </a:t>
            </a:r>
          </a:p>
        </p:txBody>
      </p:sp>
    </p:spTree>
    <p:extLst>
      <p:ext uri="{BB962C8B-B14F-4D97-AF65-F5344CB8AC3E}">
        <p14:creationId xmlns:p14="http://schemas.microsoft.com/office/powerpoint/2010/main" val="296163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D8C6-FB9A-E689-45C3-899531B5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even is diablo?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E120-4E07-6309-171C-98A5F3D13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Bioinformatics method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02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BD09-B8EE-EC2D-A57F-F391C658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Diablo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C8328-C2C9-A99C-2F62-C17EC8DCF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25114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dirty="0"/>
              <a:t>ata </a:t>
            </a: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dirty="0"/>
              <a:t>ntegration 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US" dirty="0"/>
              <a:t>nalysis for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en-US" dirty="0"/>
              <a:t>iomarker discovery using </a:t>
            </a:r>
            <a:r>
              <a:rPr lang="en-US" dirty="0">
                <a:solidFill>
                  <a:schemeClr val="bg1"/>
                </a:solidFill>
              </a:rPr>
              <a:t>L</a:t>
            </a:r>
            <a:r>
              <a:rPr lang="en-US" dirty="0"/>
              <a:t>atent </a:t>
            </a:r>
            <a:r>
              <a:rPr lang="en-US" dirty="0" err="1"/>
              <a:t>c</a:t>
            </a:r>
            <a:r>
              <a:rPr lang="en-US" dirty="0" err="1">
                <a:solidFill>
                  <a:schemeClr val="bg1"/>
                </a:solidFill>
              </a:rPr>
              <a:t>O</a:t>
            </a:r>
            <a:r>
              <a:rPr lang="en-US" dirty="0" err="1"/>
              <a:t>mponents</a:t>
            </a:r>
            <a:endParaRPr lang="en-US" dirty="0"/>
          </a:p>
          <a:p>
            <a:r>
              <a:rPr lang="en-US" dirty="0"/>
              <a:t>Component-based multivariate method</a:t>
            </a:r>
          </a:p>
          <a:p>
            <a:r>
              <a:rPr lang="en-US" dirty="0"/>
              <a:t>Supervised method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120DF7-0201-EAD8-077D-20E18FF416D7}"/>
              </a:ext>
            </a:extLst>
          </p:cNvPr>
          <p:cNvSpPr txBox="1">
            <a:spLocks/>
          </p:cNvSpPr>
          <p:nvPr/>
        </p:nvSpPr>
        <p:spPr>
          <a:xfrm>
            <a:off x="1293813" y="2401887"/>
            <a:ext cx="5590464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A80B2-A3B4-1927-68ED-268E69E32505}"/>
              </a:ext>
            </a:extLst>
          </p:cNvPr>
          <p:cNvSpPr txBox="1"/>
          <p:nvPr/>
        </p:nvSpPr>
        <p:spPr>
          <a:xfrm>
            <a:off x="8167577" y="3711079"/>
            <a:ext cx="2879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Underlying, unobserved, factors impacting relationship between variables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D959A794-3606-5622-1F05-B88093C9D316}"/>
              </a:ext>
            </a:extLst>
          </p:cNvPr>
          <p:cNvSpPr/>
          <p:nvPr/>
        </p:nvSpPr>
        <p:spPr>
          <a:xfrm>
            <a:off x="9196552" y="2785241"/>
            <a:ext cx="262758" cy="96695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1B506-AA09-EB96-E043-FD32AD7804A5}"/>
              </a:ext>
            </a:extLst>
          </p:cNvPr>
          <p:cNvSpPr txBox="1"/>
          <p:nvPr/>
        </p:nvSpPr>
        <p:spPr>
          <a:xfrm>
            <a:off x="1293813" y="4955080"/>
            <a:ext cx="253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unlabeled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476E3-3147-9EB2-A83F-722E38400BB4}"/>
              </a:ext>
            </a:extLst>
          </p:cNvPr>
          <p:cNvSpPr txBox="1"/>
          <p:nvPr/>
        </p:nvSpPr>
        <p:spPr>
          <a:xfrm>
            <a:off x="4231973" y="4329770"/>
            <a:ext cx="3293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Reduces dimensionality using latent variables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D2BEC7AB-42E6-47DD-E98A-917B96C22239}"/>
              </a:ext>
            </a:extLst>
          </p:cNvPr>
          <p:cNvSpPr/>
          <p:nvPr/>
        </p:nvSpPr>
        <p:spPr>
          <a:xfrm>
            <a:off x="5481145" y="3362818"/>
            <a:ext cx="262758" cy="96695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1750239-38E6-F41D-9F5D-60D7907AFE6B}"/>
              </a:ext>
            </a:extLst>
          </p:cNvPr>
          <p:cNvSpPr/>
          <p:nvPr/>
        </p:nvSpPr>
        <p:spPr>
          <a:xfrm>
            <a:off x="2381113" y="3988128"/>
            <a:ext cx="262758" cy="96695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7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/>
      <p:bldP spid="7" grpId="0" animBg="1"/>
      <p:bldP spid="8" grpId="0"/>
      <p:bldP spid="9" grpId="0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9580-647F-3146-9616-611A9F30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dimensionality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7AA6B-B112-A155-D0C7-8F5BA118F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on sparse Partial Least Squares Discriminant Analysis (</a:t>
            </a:r>
            <a:r>
              <a:rPr lang="en-US" dirty="0" err="1"/>
              <a:t>sPLS</a:t>
            </a:r>
            <a:r>
              <a:rPr lang="en-US" dirty="0"/>
              <a:t>-DA)</a:t>
            </a:r>
          </a:p>
          <a:p>
            <a:r>
              <a:rPr lang="en-US" dirty="0"/>
              <a:t>Reduces dimensionality while selecting important features</a:t>
            </a:r>
          </a:p>
          <a:p>
            <a:pPr lvl="1"/>
            <a:r>
              <a:rPr lang="en-US" dirty="0"/>
              <a:t>Helps simplify data, improving model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60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68</TotalTime>
  <Words>407</Words>
  <Application>Microsoft Macintosh PowerPoint</Application>
  <PresentationFormat>Widescreen</PresentationFormat>
  <Paragraphs>41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Tw Cen MT</vt:lpstr>
      <vt:lpstr>Circuit</vt:lpstr>
      <vt:lpstr>Diablo: Our favorite function in the mixomics R package</vt:lpstr>
      <vt:lpstr>Terms to know</vt:lpstr>
      <vt:lpstr>purpose of diablo</vt:lpstr>
      <vt:lpstr>What even is diablo?</vt:lpstr>
      <vt:lpstr>Diablo overview</vt:lpstr>
      <vt:lpstr>Reducing dimensionality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Sloane, Jessica (NIH/NIMH) [F]</dc:creator>
  <cp:lastModifiedBy>Sloane, Jessica (NIH/NIMH) [F]</cp:lastModifiedBy>
  <cp:revision>1</cp:revision>
  <dcterms:created xsi:type="dcterms:W3CDTF">2025-06-12T17:02:30Z</dcterms:created>
  <dcterms:modified xsi:type="dcterms:W3CDTF">2025-06-18T18:56:26Z</dcterms:modified>
</cp:coreProperties>
</file>